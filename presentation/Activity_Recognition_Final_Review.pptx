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invertIfNegative val="1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SVM (RBF)</c:v>
                </c:pt>
                <c:pt idx="1">
                  <c:v>Random Forest</c:v>
                </c:pt>
                <c:pt idx="2">
                  <c:v>KNN (k=5)</c:v>
                </c:pt>
                <c:pt idx="3">
                  <c:v>SVM (30 features)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96.2</c:v>
                </c:pt>
                <c:pt idx="1">
                  <c:v>92.57</c:v>
                </c:pt>
                <c:pt idx="2">
                  <c:v>90.16</c:v>
                </c:pt>
                <c:pt idx="3">
                  <c:v>88.16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59-43BB-B8A4-A8F521F6AE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t"/>
        <c:majorGridlines/>
        <c:title>
          <c:tx>
            <c:rich>
              <a:bodyPr/>
              <a:lstStyle/>
              <a:p>
                <a:r>
                  <a:t>Test accuracy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58200" y="0"/>
            <a:ext cx="3749039" cy="68580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7406640" cy="1371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Activity Recognition
Using Cell Phones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694944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100" b="0">
                <a:solidFill>
                  <a:srgbClr val="D2E1EF"/>
                </a:solidFill>
                <a:latin typeface="Aptos"/>
              </a:rPr>
              <a:t>Machine Learning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694944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ptos"/>
              </a:rPr>
              <a:t>UE24CS352A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704088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 dirty="0">
                <a:solidFill>
                  <a:srgbClr val="D2E1EF"/>
                </a:solidFill>
                <a:latin typeface="Aptos"/>
              </a:rPr>
              <a:t>Presenter(s): </a:t>
            </a:r>
            <a:r>
              <a:rPr lang="en-IN" sz="1400" dirty="0">
                <a:solidFill>
                  <a:srgbClr val="D2E1EF"/>
                </a:solidFill>
                <a:latin typeface="Aptos"/>
              </a:rPr>
              <a:t>SARANSH MITTAL</a:t>
            </a:r>
          </a:p>
          <a:p>
            <a:r>
              <a:rPr lang="en-IN" sz="1400" b="0" dirty="0">
                <a:solidFill>
                  <a:srgbClr val="D2E1EF"/>
                </a:solidFill>
                <a:latin typeface="Aptos"/>
              </a:rPr>
              <a:t>                            SANTOSH M			</a:t>
            </a:r>
            <a:endParaRPr sz="1400" b="0" dirty="0">
              <a:solidFill>
                <a:srgbClr val="D2E1E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372600" y="1234440"/>
            <a:ext cx="1783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28048" y="1572768"/>
            <a:ext cx="1472184" cy="2697480"/>
          </a:xfrm>
          <a:prstGeom prst="roundRect">
            <a:avLst/>
          </a:prstGeom>
          <a:solidFill>
            <a:srgbClr val="ECF3F9"/>
          </a:solidFill>
          <a:ln>
            <a:solidFill>
              <a:srgbClr val="EC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0" y="1874519"/>
            <a:ext cx="132588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16324F"/>
                </a:solidFill>
                <a:latin typeface="Aptos"/>
              </a:rPr>
              <a:t>SENSORS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3131820"/>
            <a:ext cx="100584" cy="41148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29800" y="2926079"/>
            <a:ext cx="100584" cy="82296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12680" y="3063240"/>
            <a:ext cx="100584" cy="54864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95560" y="2788920"/>
            <a:ext cx="100584" cy="109728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8440" y="2994660"/>
            <a:ext cx="100584" cy="6858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561320" y="3154679"/>
            <a:ext cx="100584" cy="36576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32520" y="4892040"/>
            <a:ext cx="32004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Sensor data → ML model → activity label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700" b="1">
                <a:solidFill>
                  <a:srgbClr val="16324F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200" b="0">
                <a:solidFill>
                  <a:srgbClr val="5C6B79"/>
                </a:solidFill>
                <a:latin typeface="Aptos"/>
              </a:rPr>
              <a:t>What the system is designed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C6B79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8229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2500" b="1">
                <a:solidFill>
                  <a:srgbClr val="16324F"/>
                </a:solidFill>
                <a:latin typeface="Aptos"/>
              </a:rPr>
              <a:t>Predict a person's physical activity from smartphone inertial-sensor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337560" cy="1115568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300837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306998"/>
                </a:solidFill>
                <a:latin typeface="Aptos"/>
              </a:rPr>
              <a:t>WALKING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64408"/>
            <a:ext cx="3008376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Steady movement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743200"/>
            <a:ext cx="3337560" cy="1115568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1" y="2880360"/>
            <a:ext cx="300837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306998"/>
                </a:solidFill>
                <a:latin typeface="Aptos"/>
              </a:rPr>
              <a:t>WALKING_UPSTAIRS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1" y="3264408"/>
            <a:ext cx="3008376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Upward motion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337560" cy="1115568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880360"/>
            <a:ext cx="300837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306998"/>
                </a:solidFill>
                <a:latin typeface="Aptos"/>
              </a:rPr>
              <a:t>WALKING_DOWNSTAIRS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264408"/>
            <a:ext cx="3008376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Downward motion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3337560" cy="1115568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297680"/>
            <a:ext cx="300837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306998"/>
                </a:solidFill>
                <a:latin typeface="Aptos"/>
              </a:rPr>
              <a:t>SITTING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681728"/>
            <a:ext cx="3008376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Stationary posture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4160520"/>
            <a:ext cx="3337560" cy="1115568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45151" y="4297680"/>
            <a:ext cx="300837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306998"/>
                </a:solidFill>
                <a:latin typeface="Aptos"/>
              </a:rPr>
              <a:t>STANDING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1" y="4681728"/>
            <a:ext cx="3008376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Upright posture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160520"/>
            <a:ext cx="3337560" cy="1115568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4297680"/>
            <a:ext cx="300837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306998"/>
                </a:solidFill>
                <a:latin typeface="Aptos"/>
              </a:rPr>
              <a:t>LAYING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681728"/>
            <a:ext cx="3008376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Lying posture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0">
                <a:solidFill>
                  <a:srgbClr val="5C6B79"/>
                </a:solidFill>
                <a:latin typeface="Aptos"/>
              </a:rPr>
              <a:t>Goal: classify each test window into one of six activity labels.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700" b="1">
                <a:solidFill>
                  <a:srgbClr val="16324F"/>
                </a:solidFill>
                <a:latin typeface="Aptos"/>
              </a:rPr>
              <a:t>2.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200" b="0">
                <a:solidFill>
                  <a:srgbClr val="5C6B79"/>
                </a:solidFill>
                <a:latin typeface="Aptos"/>
              </a:rPr>
              <a:t>UCI Human Activity Recognition Using Smartphones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C6B79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337560" cy="141732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3063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2600" b="1">
                <a:solidFill>
                  <a:srgbClr val="306998"/>
                </a:solidFill>
                <a:latin typeface="Aptos"/>
              </a:rPr>
              <a:t>10,299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32304"/>
            <a:ext cx="3063240" cy="32918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0">
                <a:solidFill>
                  <a:srgbClr val="242F3A"/>
                </a:solidFill>
                <a:latin typeface="Aptos"/>
              </a:rPr>
              <a:t>Total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00200"/>
            <a:ext cx="3337560" cy="141732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801368"/>
            <a:ext cx="3063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2600" b="1">
                <a:solidFill>
                  <a:srgbClr val="306998"/>
                </a:solidFill>
                <a:latin typeface="Aptos"/>
              </a:rPr>
              <a:t>7,352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432304"/>
            <a:ext cx="3063240" cy="32918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0">
                <a:solidFill>
                  <a:srgbClr val="242F3A"/>
                </a:solidFill>
                <a:latin typeface="Aptos"/>
              </a:rPr>
              <a:t>Training examples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600200"/>
            <a:ext cx="3337560" cy="141732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801368"/>
            <a:ext cx="3063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2600" b="1">
                <a:solidFill>
                  <a:srgbClr val="306998"/>
                </a:solidFill>
                <a:latin typeface="Aptos"/>
              </a:rPr>
              <a:t>2,947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432304"/>
            <a:ext cx="3063240" cy="32918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0">
                <a:solidFill>
                  <a:srgbClr val="242F3A"/>
                </a:solidFill>
                <a:latin typeface="Aptos"/>
              </a:rPr>
              <a:t>Test examples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3337560" cy="141732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7"/>
            <a:ext cx="3063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2600" b="1">
                <a:solidFill>
                  <a:srgbClr val="306998"/>
                </a:solidFill>
                <a:latin typeface="Aptos"/>
              </a:rPr>
              <a:t>561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06824"/>
            <a:ext cx="3063240" cy="32918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0">
                <a:solidFill>
                  <a:srgbClr val="242F3A"/>
                </a:solidFill>
                <a:latin typeface="Aptos"/>
              </a:rPr>
              <a:t>Engineered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474720"/>
            <a:ext cx="3337560" cy="141732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3675887"/>
            <a:ext cx="3063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2600" b="1">
                <a:solidFill>
                  <a:srgbClr val="306998"/>
                </a:solidFill>
                <a:latin typeface="Aptos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306824"/>
            <a:ext cx="3063240" cy="32918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0">
                <a:solidFill>
                  <a:srgbClr val="242F3A"/>
                </a:solidFill>
                <a:latin typeface="Aptos"/>
              </a:rPr>
              <a:t>Volunteers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3474720"/>
            <a:ext cx="3337560" cy="141732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3675887"/>
            <a:ext cx="3063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2600" b="1">
                <a:solidFill>
                  <a:srgbClr val="306998"/>
                </a:solidFill>
                <a:latin typeface="Aptos"/>
              </a:rPr>
              <a:t>50 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306824"/>
            <a:ext cx="3063240" cy="32918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0">
                <a:solidFill>
                  <a:srgbClr val="242F3A"/>
                </a:solidFill>
                <a:latin typeface="Aptos"/>
              </a:rPr>
              <a:t>Sensor sampling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15000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500" b="0">
                <a:solidFill>
                  <a:srgbClr val="5C6B79"/>
                </a:solidFill>
                <a:latin typeface="Aptos"/>
              </a:rPr>
              <a:t>The supplied train/test split was retained; the feature files contain no missing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700" b="1">
                <a:solidFill>
                  <a:srgbClr val="16324F"/>
                </a:solidFill>
                <a:latin typeface="Aptos"/>
              </a:rPr>
              <a:t>3. Methodology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200" b="0">
                <a:solidFill>
                  <a:srgbClr val="5C6B79"/>
                </a:solidFill>
                <a:latin typeface="Aptos"/>
              </a:rPr>
              <a:t>From supplied sensor features to measured test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C6B79"/>
                </a:solidFill>
                <a:latin typeface="Aptos"/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1124712" y="1828800"/>
            <a:ext cx="621792" cy="621792"/>
          </a:xfrm>
          <a:prstGeom prst="ellipse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" y="1938528"/>
            <a:ext cx="621792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18288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Load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82112"/>
            <a:ext cx="2011680" cy="10058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242F3A"/>
                </a:solidFill>
                <a:latin typeface="Aptos"/>
              </a:rPr>
              <a:t>Read X/y train and test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093976"/>
            <a:ext cx="1005840" cy="36576"/>
          </a:xfrm>
          <a:prstGeom prst="rect">
            <a:avLst/>
          </a:prstGeom>
          <a:solidFill>
            <a:srgbClr val="AD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56432" y="1828800"/>
            <a:ext cx="621792" cy="621792"/>
          </a:xfrm>
          <a:prstGeom prst="ellipse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1938528"/>
            <a:ext cx="621792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697480"/>
            <a:ext cx="18288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182112"/>
            <a:ext cx="2011680" cy="10058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242F3A"/>
                </a:solidFill>
                <a:latin typeface="Aptos"/>
              </a:rPr>
              <a:t>Check dimensions and missing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79" y="2093976"/>
            <a:ext cx="1005840" cy="36576"/>
          </a:xfrm>
          <a:prstGeom prst="rect">
            <a:avLst/>
          </a:prstGeom>
          <a:solidFill>
            <a:srgbClr val="AD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88151" y="1828800"/>
            <a:ext cx="621792" cy="621792"/>
          </a:xfrm>
          <a:prstGeom prst="ellipse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88151" y="1938528"/>
            <a:ext cx="621792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799" y="2697480"/>
            <a:ext cx="18288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3182112"/>
            <a:ext cx="2011680" cy="10058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242F3A"/>
                </a:solidFill>
                <a:latin typeface="Aptos"/>
              </a:rPr>
              <a:t>SVM, Random Forest, KNN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093976"/>
            <a:ext cx="1005840" cy="36576"/>
          </a:xfrm>
          <a:prstGeom prst="rect">
            <a:avLst/>
          </a:prstGeom>
          <a:solidFill>
            <a:srgbClr val="AD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19871" y="1828800"/>
            <a:ext cx="621792" cy="621792"/>
          </a:xfrm>
          <a:prstGeom prst="ellipse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9871" y="1938528"/>
            <a:ext cx="621792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697480"/>
            <a:ext cx="18288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182112"/>
            <a:ext cx="2011680" cy="10058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242F3A"/>
                </a:solidFill>
                <a:latin typeface="Aptos"/>
              </a:rPr>
              <a:t>Accuracy, weighted F1, confusion matrix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19" y="2093976"/>
            <a:ext cx="1005840" cy="36576"/>
          </a:xfrm>
          <a:prstGeom prst="rect">
            <a:avLst/>
          </a:prstGeom>
          <a:solidFill>
            <a:srgbClr val="AD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51592" y="1828800"/>
            <a:ext cx="621792" cy="621792"/>
          </a:xfrm>
          <a:prstGeom prst="ellipse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51592" y="1938528"/>
            <a:ext cx="621792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697480"/>
            <a:ext cx="18288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Select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182112"/>
            <a:ext cx="2011680" cy="10058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242F3A"/>
                </a:solidFill>
                <a:latin typeface="Aptos"/>
              </a:rPr>
              <a:t>ANOVA F-statistic; keep 30 features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800600"/>
            <a:ext cx="4709160" cy="91440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" y="4937760"/>
            <a:ext cx="437997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2F754B"/>
                </a:solidFill>
                <a:latin typeface="Aptos"/>
              </a:rPr>
              <a:t>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321808"/>
            <a:ext cx="4379976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Python, pandas, NumPy, scikit-learn, Matplotlib, Seaborn, Joblib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800600"/>
            <a:ext cx="4709160" cy="91440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5392" y="4937760"/>
            <a:ext cx="437997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2F754B"/>
                </a:solidFill>
                <a:latin typeface="Aptos"/>
              </a:rPr>
              <a:t>Evaluation discipline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5321808"/>
            <a:ext cx="4379976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Same official train/test split for all model comparisons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700" b="1">
                <a:solidFill>
                  <a:srgbClr val="16324F"/>
                </a:solidFill>
                <a:latin typeface="Aptos"/>
              </a:rPr>
              <a:t>4. Models Evaluated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200" b="0">
                <a:solidFill>
                  <a:srgbClr val="5C6B79"/>
                </a:solidFill>
                <a:latin typeface="Aptos"/>
              </a:rPr>
              <a:t>Three baseline classifiers plus a reduced-feature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C6B79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182880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309981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306998"/>
                </a:solidFill>
                <a:latin typeface="Aptos"/>
              </a:rPr>
              <a:t>SVM (RBF)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3099816" cy="11887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Learns nonlinear decision boundaries. Best test accuracy in our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182880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737360"/>
            <a:ext cx="309981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306998"/>
                </a:solidFill>
                <a:latin typeface="Aptos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21408"/>
            <a:ext cx="3099816" cy="11887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Combines predictions from multiple decision trees; strong comparison baseline.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29000" cy="182880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737360"/>
            <a:ext cx="309981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306998"/>
                </a:solidFill>
                <a:latin typeface="Aptos"/>
              </a:rPr>
              <a:t>KNN (k=5)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21408"/>
            <a:ext cx="3099816" cy="11887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Uses nearby training examples to predict the activity class.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977639"/>
            <a:ext cx="3429000" cy="150876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87752" y="4114800"/>
            <a:ext cx="309981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BD6E20"/>
                </a:solidFill>
                <a:latin typeface="Aptos"/>
              </a:rPr>
              <a:t>Feature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4498848"/>
            <a:ext cx="3099816" cy="8686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SelectKBest with ANOVA F-statistic selects 30 of 561 features.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977639"/>
            <a:ext cx="3429000" cy="150876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9672" y="4114800"/>
            <a:ext cx="309981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2F754B"/>
                </a:solidFill>
                <a:latin typeface="Aptos"/>
              </a:rPr>
              <a:t>Leakage prevention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498848"/>
            <a:ext cx="3099816" cy="8686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Feature selection is fitted on training data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700" b="1">
                <a:solidFill>
                  <a:srgbClr val="16324F"/>
                </a:solidFill>
                <a:latin typeface="Aptos"/>
              </a:rPr>
              <a:t>5. Experimental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200" b="0">
                <a:solidFill>
                  <a:srgbClr val="5C6B79"/>
                </a:solidFill>
                <a:latin typeface="Aptos"/>
              </a:rPr>
              <a:t>Measured test-set results from the current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C6B79"/>
                </a:solidFill>
                <a:latin typeface="Aptos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417320"/>
          <a:ext cx="6629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691640"/>
            <a:ext cx="3749039" cy="123444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54112" y="1828800"/>
            <a:ext cx="341985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2F754B"/>
                </a:solidFill>
                <a:latin typeface="Aptos"/>
              </a:rPr>
              <a:t>Best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2212848"/>
            <a:ext cx="3419856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SVM (RBF): 96.20% accuracy; weighted F1 = 96.19%.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246120"/>
            <a:ext cx="3749039" cy="141732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54112" y="3383279"/>
            <a:ext cx="341985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BD6E20"/>
                </a:solidFill>
                <a:latin typeface="Aptos"/>
              </a:rPr>
              <a:t>Reduced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3767328"/>
            <a:ext cx="3419856" cy="7772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30-feature SVM: 88.16% accuracy, down from 96.20% with all 561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5074920"/>
            <a:ext cx="356616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100" b="0">
                <a:solidFill>
                  <a:srgbClr val="5C6B79"/>
                </a:solidFill>
                <a:latin typeface="Aptos"/>
              </a:rPr>
              <a:t>Training times depend on the computer and run; accuracy is the main comparison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700" b="1">
                <a:solidFill>
                  <a:srgbClr val="16324F"/>
                </a:solidFill>
                <a:latin typeface="Aptos"/>
              </a:rPr>
              <a:t>6. Error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200" b="0">
                <a:solidFill>
                  <a:srgbClr val="5C6B79"/>
                </a:solidFill>
                <a:latin typeface="Aptos"/>
              </a:rPr>
              <a:t>What the confusion matrix reveals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C6B79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383280" cy="146304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645919"/>
            <a:ext cx="305409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2F754B"/>
                </a:solidFill>
                <a:latin typeface="Aptos"/>
              </a:rPr>
              <a:t>Strong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29967"/>
            <a:ext cx="3054096" cy="8229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LAYING: 537 of 537 test examples were classified correctly.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146304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BD6E20"/>
                </a:solidFill>
                <a:latin typeface="Aptos"/>
              </a:rPr>
              <a:t>Main confusion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29967"/>
            <a:ext cx="3054096" cy="8229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50 SITTING examples were predicted as STANDING.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508760"/>
            <a:ext cx="3383280" cy="146304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65592" y="1645919"/>
            <a:ext cx="305409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BD6E20"/>
                </a:solidFill>
                <a:latin typeface="Aptos"/>
              </a:rPr>
              <a:t>Reverse confusion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2029967"/>
            <a:ext cx="3054096" cy="8229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10 STANDING examples were predicted as SITTING.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24128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000" b="1">
                <a:solidFill>
                  <a:srgbClr val="16324F"/>
                </a:solidFill>
                <a:latin typeface="Aptos"/>
              </a:rP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149840" cy="10972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700" b="0">
                <a:solidFill>
                  <a:srgbClr val="242F3A"/>
                </a:solidFill>
                <a:latin typeface="Aptos"/>
              </a:rPr>
              <a:t>Some activities produce similar sensor patterns. Sitting and standing are both relatively stationary, so distinguishing them can be harder than recognizing lying down or dynamic movement.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0584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200" b="0">
                <a:solidFill>
                  <a:srgbClr val="5C6B79"/>
                </a:solidFill>
                <a:latin typeface="Aptos"/>
              </a:rPr>
              <a:t>The confusion matrix is saved at results/svm_confusion_matrix.png.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700" b="1">
                <a:solidFill>
                  <a:srgbClr val="16324F"/>
                </a:solidFill>
                <a:latin typeface="Aptos"/>
              </a:rPr>
              <a:t>7. 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200" b="0">
                <a:solidFill>
                  <a:srgbClr val="5C6B79"/>
                </a:solidFill>
                <a:latin typeface="Aptos"/>
              </a:rPr>
              <a:t>Summary of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C6B79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2514600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42F3A"/>
                </a:solidFill>
                <a:latin typeface="Aptos"/>
              </a:defRPr>
            </a:pPr>
            <a:r>
              <a:t>RBF SVM achieved the highest test accuracy (96.20%) among the evaluated models.</a:t>
            </a:r>
          </a:p>
          <a:p>
            <a:pPr>
              <a:spcAft>
                <a:spcPts val="1200"/>
              </a:spcAft>
              <a:defRPr sz="1800">
                <a:solidFill>
                  <a:srgbClr val="242F3A"/>
                </a:solidFill>
                <a:latin typeface="Aptos"/>
              </a:defRPr>
            </a:pPr>
            <a:r>
              <a:t>Random Forest achieved 92.57%; KNN achieved 90.16%.</a:t>
            </a:r>
          </a:p>
          <a:p>
            <a:pPr>
              <a:spcAft>
                <a:spcPts val="1200"/>
              </a:spcAft>
              <a:defRPr sz="1800">
                <a:solidFill>
                  <a:srgbClr val="242F3A"/>
                </a:solidFill>
                <a:latin typeface="Aptos"/>
              </a:defRPr>
            </a:pPr>
            <a:r>
              <a:t>Reducing to 30 selected features lowered accuracy to 88.16%, showing a performance–dimensionality trade-off.</a:t>
            </a:r>
          </a:p>
          <a:p>
            <a:pPr>
              <a:spcAft>
                <a:spcPts val="1200"/>
              </a:spcAft>
              <a:defRPr sz="1800">
                <a:solidFill>
                  <a:srgbClr val="242F3A"/>
                </a:solidFill>
                <a:latin typeface="Aptos"/>
              </a:defRPr>
            </a:pPr>
            <a:r>
              <a:t>The largest visible confusion was between sitting and standing.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343400"/>
            <a:ext cx="4846320" cy="123444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4480560"/>
            <a:ext cx="451713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306998"/>
                </a:solidFill>
                <a:latin typeface="Aptos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4864608"/>
            <a:ext cx="4517136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Tune hyperparameters using validation data; test alternative feature-selection methods; study generalization across subjects.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343400"/>
            <a:ext cx="4846320" cy="123444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4480560"/>
            <a:ext cx="451713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BD6E20"/>
                </a:solidFill>
                <a:latin typeface="Aptos"/>
              </a:rPr>
              <a:t>Key 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4864608"/>
            <a:ext cx="4517136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These are our implementation's results, not a direct reproduction of the reference paper's 78.1%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700" b="1">
                <a:solidFill>
                  <a:srgbClr val="16324F"/>
                </a:solidFill>
                <a:latin typeface="Aptos"/>
              </a:rPr>
              <a:t>8. Live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200" b="0">
                <a:solidFill>
                  <a:srgbClr val="5C6B79"/>
                </a:solidFill>
                <a:latin typeface="Aptos"/>
              </a:rPr>
              <a:t>Run the project from the root directory in the active virtual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C6B79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7498079" cy="438912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490472"/>
            <a:ext cx="7132320" cy="23774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>
                <a:solidFill>
                  <a:srgbClr val="16324F"/>
                </a:solidFill>
                <a:latin typeface="Consolas"/>
              </a:rPr>
              <a:t>python src/check_dataset.py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29968"/>
            <a:ext cx="7498079" cy="438912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7132320" cy="23774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>
                <a:solidFill>
                  <a:srgbClr val="16324F"/>
                </a:solidFill>
                <a:latin typeface="Consolas"/>
              </a:rPr>
              <a:t>python src/train_model.py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42616"/>
            <a:ext cx="7498079" cy="438912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715768"/>
            <a:ext cx="7132320" cy="23774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>
                <a:solidFill>
                  <a:srgbClr val="16324F"/>
                </a:solidFill>
                <a:latin typeface="Consolas"/>
              </a:rPr>
              <a:t>python src/evaluate_model.py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55264"/>
            <a:ext cx="7498079" cy="438912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328416"/>
            <a:ext cx="7132320" cy="23774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>
                <a:solidFill>
                  <a:srgbClr val="16324F"/>
                </a:solidFill>
                <a:latin typeface="Consolas"/>
              </a:rPr>
              <a:t>python src/compare_models.py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67912"/>
            <a:ext cx="7498079" cy="438912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941064"/>
            <a:ext cx="7132320" cy="23774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>
                <a:solidFill>
                  <a:srgbClr val="16324F"/>
                </a:solidFill>
                <a:latin typeface="Consolas"/>
              </a:rPr>
              <a:t>python src/feature_selection.py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80560"/>
            <a:ext cx="7498079" cy="438912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553712"/>
            <a:ext cx="7132320" cy="23774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>
                <a:solidFill>
                  <a:srgbClr val="16324F"/>
                </a:solidFill>
                <a:latin typeface="Consolas"/>
              </a:rPr>
              <a:t>python src/summarize_results.py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645920"/>
            <a:ext cx="2560320" cy="1828800"/>
          </a:xfrm>
          <a:prstGeom prst="roundRect">
            <a:avLst/>
          </a:prstGeom>
          <a:solidFill>
            <a:srgbClr val="ECF3F9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2" y="1783080"/>
            <a:ext cx="2231136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1">
                <a:solidFill>
                  <a:srgbClr val="2F754B"/>
                </a:solidFill>
                <a:latin typeface="Aptos"/>
              </a:rPr>
              <a:t>Show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167128"/>
            <a:ext cx="2231136" cy="11887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42F3A"/>
                </a:solidFill>
                <a:latin typeface="Aptos"/>
              </a:rPr>
              <a:t>results/ contains model metrics, saved models, comparison tables, and plots.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886200"/>
            <a:ext cx="2560320" cy="10972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>
                <a:solidFill>
                  <a:srgbClr val="242F3A"/>
                </a:solidFill>
                <a:latin typeface="Aptos"/>
              </a:rPr>
              <a:t>Before review:
• Open the comparison graph
• Open the confusion matrix
• Explain one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423160"/>
            <a:ext cx="978408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800" b="0">
                <a:solidFill>
                  <a:srgbClr val="D7E4EF"/>
                </a:solidFill>
                <a:latin typeface="Aptos"/>
              </a:rPr>
              <a:t>Be ready to explain the dataset, SVM, metrics, feature selection, and the sitting/standing confusion.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840480"/>
            <a:ext cx="100584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Dataset source: UCI Human Activity Recognition Using Smartphones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297680"/>
            <a:ext cx="1005840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0">
                <a:solidFill>
                  <a:srgbClr val="D7E4EF"/>
                </a:solidFill>
                <a:latin typeface="Aptos"/>
              </a:rPr>
              <a:t>Add team member names and confirm all results against the saved output before presenting.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703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saransh mittal</cp:lastModifiedBy>
  <cp:revision>2</cp:revision>
  <dcterms:created xsi:type="dcterms:W3CDTF">2013-01-27T09:14:16Z</dcterms:created>
  <dcterms:modified xsi:type="dcterms:W3CDTF">2026-10-10T09:09:13Z</dcterms:modified>
  <cp:category/>
</cp:coreProperties>
</file>